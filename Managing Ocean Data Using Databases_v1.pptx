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2" d="100"/>
          <a:sy n="112" d="100"/>
        </p:scale>
        <p:origin x="5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3.png"/><Relationship Id="rId7" Type="http://schemas.openxmlformats.org/officeDocument/2006/relationships/image" Target="../media/image2.png"/><Relationship Id="rId12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1.png"/><Relationship Id="rId7" Type="http://schemas.openxmlformats.org/officeDocument/2006/relationships/image" Target="../media/image2.png"/><Relationship Id="rId12" Type="http://schemas.openxmlformats.org/officeDocument/2006/relationships/image" Target="../media/image5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61.png"/><Relationship Id="rId10" Type="http://schemas.openxmlformats.org/officeDocument/2006/relationships/image" Target="../media/image57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4.png"/><Relationship Id="rId7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2.png"/><Relationship Id="rId4" Type="http://schemas.openxmlformats.org/officeDocument/2006/relationships/image" Target="../media/image75.png"/><Relationship Id="rId9" Type="http://schemas.openxmlformats.org/officeDocument/2006/relationships/image" Target="../media/image7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5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image" Target="../media/image1.png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4" Type="http://schemas.openxmlformats.org/officeDocument/2006/relationships/image" Target="../media/image2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4.png"/><Relationship Id="rId7" Type="http://schemas.openxmlformats.org/officeDocument/2006/relationships/image" Target="../media/image10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2.png"/><Relationship Id="rId4" Type="http://schemas.openxmlformats.org/officeDocument/2006/relationships/image" Target="../media/image105.png"/><Relationship Id="rId9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5437" y="2446139"/>
            <a:ext cx="9001125" cy="10894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290"/>
              </a:lnSpc>
            </a:pPr>
            <a:r>
              <a:rPr sz="3900" b="0" i="0" u="none">
                <a:solidFill>
                  <a:srgbClr val="F8FAFC"/>
                </a:solidFill>
                <a:latin typeface="Outfit ExtraBold"/>
              </a:rPr>
              <a:t>Managing Ocean Data Using 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2686" y="3266746"/>
            <a:ext cx="7331393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 dirty="0">
                <a:solidFill>
                  <a:srgbClr val="BAE6FD"/>
                </a:solidFill>
                <a:latin typeface="Plus Jakarta Sans"/>
              </a:rPr>
              <a:t>Practical Guide to Scientific Data Architecture, Relational SQL, and ARGO Global Floats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9387" y="5373503"/>
            <a:ext cx="53530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25" b="0" i="0" u="none" dirty="0">
                <a:solidFill>
                  <a:srgbClr val="93C5FD"/>
                </a:solidFill>
                <a:latin typeface="Plus Jakarta Sans"/>
              </a:rPr>
              <a:t> </a:t>
            </a:r>
            <a:r>
              <a:rPr lang="en-US" sz="2000" b="1" i="0" u="none" dirty="0">
                <a:solidFill>
                  <a:schemeClr val="bg1"/>
                </a:solidFill>
                <a:latin typeface="Plus Jakarta Sans"/>
              </a:rPr>
              <a:t>PAVAN KUMAR JONNAKUTI</a:t>
            </a:r>
          </a:p>
          <a:p>
            <a:pPr algn="r"/>
            <a:r>
              <a:rPr lang="en-US" sz="2000" b="1" dirty="0">
                <a:solidFill>
                  <a:schemeClr val="bg1"/>
                </a:solidFill>
                <a:latin typeface="Plus Jakarta Sans"/>
              </a:rPr>
              <a:t>Scientist ‘C’, ODM</a:t>
            </a:r>
            <a:endParaRPr sz="2000" b="1" i="0" u="none" dirty="0">
              <a:solidFill>
                <a:schemeClr val="bg1"/>
              </a:solidFill>
              <a:latin typeface="Plus Jakarta San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35BE58F-BE84-5763-0A86-770E6956B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015" y="954491"/>
            <a:ext cx="1267968" cy="12679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680120"/>
            <a:ext cx="5476875" cy="235594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937170"/>
            <a:ext cx="5476875" cy="324177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2941439"/>
            <a:ext cx="5076825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The Ocean Data Crisis: File Chaos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250" y="937170"/>
            <a:ext cx="54768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Imagine this real-world scenario: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You are tasked with analyzing 10,000 autonomous ARGO float profiles scattered across thousands of folders as individual NetCDF, CSV, and Excel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1880145"/>
            <a:ext cx="530066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Key Challenges with File Stores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603176"/>
            <a:ext cx="5330666" cy="26670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Outfit SemiBold"/>
              </a:rPr>
              <a:t>The Core Questions We Must Answer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190872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71550" y="2213520"/>
            <a:ext cx="4781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Slow Geographic Searches: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Scanning 10,000 files to find Arabian Sea profiles takes minutes or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550" y="2754362"/>
            <a:ext cx="4781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Hard Parameter Filtering: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Extracting temperature between 0–500m requires opening every single file into memory.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3295203"/>
            <a:ext cx="47815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475569"/>
                </a:solidFill>
                <a:latin typeface="Plus Jakarta Sans"/>
              </a:rPr>
              <a:t>File Corruption &amp; Concurrency: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Two scientists editing metadata simultaneously overwrite each other.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631751"/>
            <a:ext cx="16192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38900" y="2108001"/>
            <a:ext cx="5076825" cy="214312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How do I find all profiles from WMOID 2902092?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900" y="2322314"/>
            <a:ext cx="5076825" cy="214312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How do I count total active floats instantly?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2536626"/>
            <a:ext cx="5076825" cy="214312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How do I feed data directly into web dashboards?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2232570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2773412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3314253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2146101"/>
            <a:ext cx="14287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2360414"/>
            <a:ext cx="1428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2574726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7170"/>
            <a:ext cx="3619500" cy="19621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937170"/>
            <a:ext cx="3619500" cy="1962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937170"/>
            <a:ext cx="3619500" cy="1962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089820"/>
            <a:ext cx="5476875" cy="1428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781550"/>
            <a:ext cx="5476875" cy="1428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6787" y="381000"/>
            <a:ext cx="112252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Database Fundamentals: Core Concepts &amp; Terminology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11360"/>
            <a:ext cx="376237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275" y="1165770"/>
            <a:ext cx="3380422" cy="23812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1. The 3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1499145"/>
            <a:ext cx="32194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Database: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The structured repository storing data.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DBMS: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Software engine (PostgreSQL, MySQL) managing storage &amp; access.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SQL: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Declarative language used to query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275" y="1165770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2. Anatomy of a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275" y="1499145"/>
            <a:ext cx="3219450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Table (Entity):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Grid of related records (e.g., `argo_observation`).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Column (Field):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Specific data type (e.g. `salinity REAL`).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Row (Record):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Individual data instance (1 measurement).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6275" y="1165770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3. Keys &amp; Schemas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275" y="1499145"/>
            <a:ext cx="32194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Schema: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Structural blueprint of tables.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Primary Key (PK):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Unique ID for a record.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Foreign Key (FK):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Link connecting related tables.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275" y="3289845"/>
            <a:ext cx="5330666" cy="20002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284C7"/>
                </a:solidFill>
                <a:latin typeface="Outfit SemiBold"/>
              </a:rPr>
              <a:t>Relational (SQL) vs. Non-Relational (NoSQL)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3547020"/>
            <a:ext cx="50768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0369A1"/>
                </a:solidFill>
                <a:latin typeface="Plus Jakarta Sans"/>
              </a:rPr>
              <a:t>Relational (RDBMS):</a:t>
            </a:r>
            <a:r>
              <a:rPr sz="1012" b="0" i="0" u="none">
                <a:solidFill>
                  <a:srgbClr val="0369A1"/>
                </a:solidFill>
                <a:latin typeface="Plus Jakarta Sans"/>
              </a:rPr>
              <a:t> Strict tabular schemas, ACID compliance, enforced keys. Ideal for structured ocean observation arrays.</a:t>
            </a:r>
            <a:r>
              <a:t>
</a:t>
            </a:r>
            <a:r>
              <a:rPr sz="1012" b="1" i="0" u="none">
                <a:solidFill>
                  <a:srgbClr val="0369A1"/>
                </a:solidFill>
                <a:latin typeface="Plus Jakarta Sans"/>
              </a:rPr>
              <a:t>NoSQL (Document/Key-Value):</a:t>
            </a:r>
            <a:r>
              <a:rPr sz="1012" b="0" i="0" u="none">
                <a:solidFill>
                  <a:srgbClr val="0369A1"/>
                </a:solidFill>
                <a:latin typeface="Plus Jakarta Sans"/>
              </a:rPr>
              <a:t> Schema-less JSON stores. Ideal for raw, unstructured telemetry logs.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368" y="4851945"/>
            <a:ext cx="5330666" cy="200025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0284C7"/>
                </a:solidFill>
                <a:latin typeface="Outfit SemiBold"/>
              </a:rPr>
              <a:t>Why SQL Standards Matter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368" y="5152900"/>
            <a:ext cx="5076825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SQL is a declarative language: you specify </a:t>
            </a:r>
            <a:r>
              <a:rPr sz="1012" b="0" i="1" u="none" dirty="0">
                <a:solidFill>
                  <a:srgbClr val="334155"/>
                </a:solidFill>
                <a:latin typeface="Plus Jakarta Sans"/>
              </a:rPr>
              <a:t>what</a:t>
            </a: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 data you want (e.g. temperature &gt; 25°C), and the query optimizer figures out the </a:t>
            </a:r>
            <a:r>
              <a:rPr sz="1012" b="0" i="1" u="none" dirty="0">
                <a:solidFill>
                  <a:srgbClr val="334155"/>
                </a:solidFill>
                <a:latin typeface="Plus Jakarta Sans"/>
              </a:rPr>
              <a:t>most efficient way</a:t>
            </a:r>
            <a:r>
              <a:rPr sz="1012" b="0" i="0" u="none" dirty="0">
                <a:solidFill>
                  <a:srgbClr val="334155"/>
                </a:solidFill>
                <a:latin typeface="Plus Jakarta Sans"/>
              </a:rPr>
              <a:t> to retrieve it.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1194345"/>
            <a:ext cx="21907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6275" y="1194345"/>
            <a:ext cx="190500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6275" y="1194345"/>
            <a:ext cx="190500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275" y="3308895"/>
            <a:ext cx="142875" cy="1619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079" y="4870994"/>
            <a:ext cx="12382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784FE60-80FA-00FE-48A8-FE4C4C09F0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17881" y="3116726"/>
            <a:ext cx="4958816" cy="30935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7170"/>
            <a:ext cx="3619500" cy="13763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937170"/>
            <a:ext cx="3619500" cy="13763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937170"/>
            <a:ext cx="3619500" cy="13763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504033"/>
            <a:ext cx="3619500" cy="13763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2504033"/>
            <a:ext cx="3619500" cy="13763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504033"/>
            <a:ext cx="3619500" cy="137636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The 8 Pillars of Database Systems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" y="1137195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1. Central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1470570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Eliminates duplicated files across local hard drives. Single source of truth for all research teams.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275" y="1137195"/>
            <a:ext cx="3380422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2. Sub-second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6275" y="1470570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Indexes allow searching billions of rows in milliseconds without reading the entire dataset.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275" y="1137195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3. Complex Filtering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6275" y="1470570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Query simultaneously by date range, geographic bounding box, depth, and QC flags.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" y="2704058"/>
            <a:ext cx="3380422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4. Concurrency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" y="3037433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Hundreds of scientists, APIs, and models can read and write data simultaneously without crashes.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6275" y="2704058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5. Data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6275" y="3037433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Enforces rules (e.g., salinity cannot be negative) preventing corrupted data from entering the system.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6275" y="2704058"/>
            <a:ext cx="3380422" cy="23812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6. API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5" y="3037433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Directly connects to web apps, Python script pipelines, GIS tools, and machine learning models.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165770"/>
            <a:ext cx="190500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6275" y="1165770"/>
            <a:ext cx="171450" cy="190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6275" y="1165770"/>
            <a:ext cx="190500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2732633"/>
            <a:ext cx="238125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6275" y="2732633"/>
            <a:ext cx="19050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6275" y="2732633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1261020"/>
            <a:ext cx="5476875" cy="1533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937420"/>
            <a:ext cx="5476875" cy="771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Anatomy of Oceanographic Data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937170"/>
            <a:ext cx="11239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0F172A"/>
                </a:solidFill>
                <a:latin typeface="Plus Jakarta Sans"/>
              </a:rPr>
              <a:t>Ocean data isn't just numbers—it is a structured blend of environmental observations, spatial positioning, sensor metadata, and quality flags.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76250" y="1356270"/>
          <a:ext cx="5476873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6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3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Sample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Data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Float WMOID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2902092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Integer (ID)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Latitude / Longitude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15.25°N, 72.45°E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Spatial Coordinate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Profile Timestamp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2026-08-20 06:00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DateTime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Pressure (Depth)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100.0 dbar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Float (Numeric)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Temperature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27.4 °C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Float (Numeric)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Salinity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35.6 PSU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Float (Numeric)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Dissolved Oxygen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210.0 µmol/kg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Float (Numeric)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76250" y="171345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32880" y="171345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89511" y="1713458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8900" y="1461045"/>
            <a:ext cx="5330666" cy="23812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Data Classification Spectrum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1794420"/>
            <a:ext cx="50768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1. Raw Telemetry: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Uncalibrated signal directly from satellite link.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2. Metadata: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Float model, sensor serial numbers, deployment date.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3. Quality-Controlled (QC):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Data flagged for sensor drift or anomalies.</a:t>
            </a:r>
            <a:r>
              <a:t>
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4. Derived Products: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Interpolated gridded fields (e.g., RG-Argo Climatology).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137445"/>
            <a:ext cx="50768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369A1"/>
                </a:solidFill>
                <a:latin typeface="Plus Jakarta Sans"/>
              </a:rPr>
              <a:t>Scale Insight:</a:t>
            </a:r>
            <a:r>
              <a:rPr sz="975" b="0" i="0" u="none">
                <a:solidFill>
                  <a:srgbClr val="0369A1"/>
                </a:solidFill>
                <a:latin typeface="Plus Jakarta Sans"/>
              </a:rPr>
              <a:t> Over 4,000 active ARGO floats transmit profile data every 10 days, generating millions of records annually. File systems crumble under this volume.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250" y="208493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32880" y="208493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89511" y="2084933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250" y="245640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32880" y="245640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89511" y="2456408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6250" y="282788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332880" y="282788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89511" y="2827883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6250" y="319935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32880" y="319935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89511" y="3199358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6250" y="357083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332880" y="357083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89511" y="3570833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6250" y="394230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332880" y="3942308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189511" y="3942308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6250" y="431378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332880" y="4313783"/>
            <a:ext cx="1856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89511" y="4313783"/>
            <a:ext cx="17636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1489620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1950541"/>
            <a:ext cx="5476875" cy="26622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269950"/>
            <a:ext cx="5476875" cy="15335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946350"/>
            <a:ext cx="5476875" cy="1333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687" y="381000"/>
            <a:ext cx="112633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Outfit"/>
              </a:rPr>
              <a:t>Deconstructing the Database Architecture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11360"/>
            <a:ext cx="338137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250" y="937170"/>
            <a:ext cx="54768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Plus Jakarta Sans"/>
              </a:rPr>
              <a:t>A </a:t>
            </a:r>
            <a:r>
              <a:rPr sz="1350" b="1" i="0" u="none">
                <a:solidFill>
                  <a:srgbClr val="F8FAFC"/>
                </a:solidFill>
                <a:latin typeface="Plus Jakarta Sans"/>
              </a:rPr>
              <a:t>Database</a:t>
            </a:r>
            <a:r>
              <a:rPr sz="1350" b="0" i="0" u="none">
                <a:solidFill>
                  <a:srgbClr val="F8FAFC"/>
                </a:solidFill>
                <a:latin typeface="Plus Jakarta Sans"/>
              </a:rPr>
              <a:t> is an organized collection of structured data. A </a:t>
            </a:r>
            <a:r>
              <a:rPr sz="1350" b="1" i="0" u="none">
                <a:solidFill>
                  <a:srgbClr val="F8FAFC"/>
                </a:solidFill>
                <a:latin typeface="Plus Jakarta Sans"/>
              </a:rPr>
              <a:t>DBMS</a:t>
            </a:r>
            <a:r>
              <a:rPr sz="1350" b="0" i="0" u="none">
                <a:solidFill>
                  <a:srgbClr val="F8FAFC"/>
                </a:solidFill>
                <a:latin typeface="Plus Jakarta Sans"/>
              </a:rPr>
              <a:t> (Database Management System) is the software engine that interacts with users, applications, and the database itself.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2150566"/>
            <a:ext cx="533066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Outfit SemiBold"/>
              </a:rPr>
              <a:t>Data to User Value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" y="2483941"/>
            <a:ext cx="5076825" cy="1928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F1F5F9"/>
                </a:solidFill>
                <a:latin typeface="Fira Code"/>
              </a:rPr>
              <a:t>ARGO Telemetry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  ↓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PostgreSQL Database (DBMS)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  ↓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FastAPI / REST Service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  ↓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Web Dashboard / Python Client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  ↓</a:t>
            </a:r>
            <a:r>
              <a:t>
</a:t>
            </a:r>
            <a:r>
              <a:rPr sz="1125" b="0" i="0" u="none">
                <a:solidFill>
                  <a:srgbClr val="F1F5F9"/>
                </a:solidFill>
                <a:latin typeface="Fira Code"/>
              </a:rPr>
              <a:t> Researcher / Decision Maker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1469975"/>
            <a:ext cx="5330666" cy="23812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Outfit SemiBold"/>
              </a:rPr>
              <a:t>Popular RDBMS Engines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1803350"/>
            <a:ext cx="50768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CBD5E1"/>
                </a:solidFill>
                <a:latin typeface="Plus Jakarta Sans"/>
              </a:rPr>
              <a:t>PostgreSQL: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Open-source, gold standard for scientific &amp; GIS spatial data (PostGIS).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CBD5E1"/>
                </a:solidFill>
                <a:latin typeface="Plus Jakarta Sans"/>
              </a:rPr>
              <a:t>MySQL / MariaDB: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Lightweight, widely deployed in web services.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CBD5E1"/>
                </a:solidFill>
                <a:latin typeface="Plus Jakarta Sans"/>
              </a:rPr>
              <a:t>SQLite: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Serverless, embedded file-based relational database.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146375"/>
            <a:ext cx="5330666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Outfit SemiBold"/>
              </a:rPr>
              <a:t>Relational vs. NoSQL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3479750"/>
            <a:ext cx="50768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CBD5E1"/>
                </a:solidFill>
                <a:latin typeface="Plus Jakarta Sans"/>
              </a:rPr>
              <a:t>Relational (SQL):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Strict schema, tables, foreign keys. Perfect for ARGO profiles.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CBD5E1"/>
                </a:solidFill>
                <a:latin typeface="Plus Jakarta Sans"/>
              </a:rPr>
              <a:t>NoSQL (MongoDB):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Unstructured document store. Good for raw JSON telemetry logs.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498550"/>
            <a:ext cx="21907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3174950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441995"/>
            <a:ext cx="5476875" cy="2314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441995"/>
            <a:ext cx="5476875" cy="305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Database Design: Normalizing ARGO Data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937170"/>
            <a:ext cx="11239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The Pitfall:</a:t>
            </a:r>
            <a:r>
              <a:rPr sz="1125" b="0" i="0" u="none">
                <a:solidFill>
                  <a:srgbClr val="0F172A"/>
                </a:solidFill>
                <a:latin typeface="Plus Jakarta Sans"/>
              </a:rPr>
              <a:t> Storing everything in one giant flat table repeats float metadata millions of times. </a:t>
            </a:r>
            <a:r>
              <a:rPr sz="1125" b="1" i="0" u="none">
                <a:solidFill>
                  <a:srgbClr val="0F172A"/>
                </a:solidFill>
                <a:latin typeface="Plus Jakarta Sans"/>
              </a:rPr>
              <a:t>The Solution:</a:t>
            </a:r>
            <a:r>
              <a:rPr sz="1125" b="0" i="0" u="none">
                <a:solidFill>
                  <a:srgbClr val="0F172A"/>
                </a:solidFill>
                <a:latin typeface="Plus Jakarta Sans"/>
              </a:rPr>
              <a:t> Database Normalization (splitting data into logical related tables).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1670595"/>
            <a:ext cx="5330666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EF4444"/>
                </a:solidFill>
                <a:latin typeface="Outfit SemiBold"/>
              </a:rPr>
              <a:t>Bad Approach: Single Flat Table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76275" y="2003970"/>
          <a:ext cx="5076822" cy="1304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3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16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6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6231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WMOID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Lat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Lon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Depth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Temp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2902092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15.25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72.45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2026-08-20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28.1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231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2902092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15.25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72.45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2026-08-20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50m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27.8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232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2902092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15.25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72.45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2026-08-20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100m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27.4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76275" y="3385095"/>
            <a:ext cx="50768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DC2626"/>
                </a:solidFill>
                <a:latin typeface="Plus Jakarta Sans"/>
              </a:rPr>
              <a:t>Redundant storage of WMOID, Lat, Lon, Date for every single depth layer!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1670595"/>
            <a:ext cx="5330666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6A34A"/>
                </a:solidFill>
                <a:latin typeface="Outfit SemiBold"/>
              </a:rPr>
              <a:t>Good Approach: Normalized Relational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003970"/>
            <a:ext cx="50768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0F172A"/>
                </a:solidFill>
                <a:latin typeface="Plus Jakarta Sans SemiBold"/>
              </a:rPr>
              <a:t>1. ARGO_PROFILE Table (Metadata)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38900" y="2284958"/>
          <a:ext cx="5076823" cy="65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1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8612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profile_id (PK)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wmoid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lat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lon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13"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2902092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2026-08-20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15.25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72.45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438900" y="3037433"/>
            <a:ext cx="50768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0F172A"/>
                </a:solidFill>
                <a:latin typeface="Plus Jakarta Sans SemiBold"/>
              </a:rPr>
              <a:t>2. ARGO_OBSERVATION Table (Measurements)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438900" y="3318420"/>
          <a:ext cx="5076823" cy="981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9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obs_id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profile_id (FK)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depth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temp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salinity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 dbar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28.1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35.4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10001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50 dbar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27.8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2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35.5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1699170"/>
            <a:ext cx="190500" cy="1905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76275" y="2323058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59284" y="2323058"/>
            <a:ext cx="6968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56098" y="232305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77765" y="2323058"/>
            <a:ext cx="1256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34470" y="232305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56137" y="2323058"/>
            <a:ext cx="696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1699170"/>
            <a:ext cx="190500" cy="1905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438900" y="2604045"/>
            <a:ext cx="12692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08106" y="2604045"/>
            <a:ext cx="10230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731150" y="2604045"/>
            <a:ext cx="1308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39201" y="2604045"/>
            <a:ext cx="725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764440" y="2604045"/>
            <a:ext cx="7512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38900" y="3637508"/>
            <a:ext cx="8731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312074" y="3637508"/>
            <a:ext cx="1435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747670" y="3637508"/>
            <a:ext cx="1021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768929" y="3637508"/>
            <a:ext cx="799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568136" y="3637508"/>
            <a:ext cx="9475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76275" y="2646908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659284" y="2646908"/>
            <a:ext cx="6968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356098" y="264690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077765" y="2646908"/>
            <a:ext cx="1256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34470" y="264690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56137" y="2646908"/>
            <a:ext cx="696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76275" y="2970758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659284" y="2970758"/>
            <a:ext cx="6968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356098" y="297075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077765" y="2970758"/>
            <a:ext cx="1256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334470" y="297075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56137" y="2970758"/>
            <a:ext cx="696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76275" y="3294608"/>
            <a:ext cx="983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659284" y="3294608"/>
            <a:ext cx="6968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356098" y="329460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077765" y="3294608"/>
            <a:ext cx="12567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34470" y="3294608"/>
            <a:ext cx="7216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56137" y="3294608"/>
            <a:ext cx="696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38900" y="2927895"/>
            <a:ext cx="126920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708106" y="2927895"/>
            <a:ext cx="102304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731150" y="2927895"/>
            <a:ext cx="1308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039201" y="2927895"/>
            <a:ext cx="72523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764440" y="2927895"/>
            <a:ext cx="7512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438900" y="3961358"/>
            <a:ext cx="8731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7312074" y="3961358"/>
            <a:ext cx="1435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747670" y="3961358"/>
            <a:ext cx="1021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768929" y="3961358"/>
            <a:ext cx="799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568136" y="3961358"/>
            <a:ext cx="9475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438900" y="4285208"/>
            <a:ext cx="8731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312074" y="4285208"/>
            <a:ext cx="14355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747670" y="4285208"/>
            <a:ext cx="10212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768929" y="4285208"/>
            <a:ext cx="799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568136" y="4285208"/>
            <a:ext cx="9475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7170"/>
            <a:ext cx="11239500" cy="22764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404145"/>
            <a:ext cx="5476875" cy="1133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3404145"/>
            <a:ext cx="5476875" cy="1133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1270545"/>
            <a:ext cx="3008262" cy="1609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794" y="1184820"/>
            <a:ext cx="3008262" cy="1781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9688" y="1184820"/>
            <a:ext cx="3008262" cy="1781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28687" y="381000"/>
            <a:ext cx="112633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Relational Architecture: 1-to-Many Model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250" y="411360"/>
            <a:ext cx="338137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66716" y="1789658"/>
            <a:ext cx="390525" cy="5715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t>
</a:t>
            </a:r>
            <a:r>
              <a:rPr sz="1800" b="0" i="0" u="none">
                <a:solidFill>
                  <a:srgbClr val="0284C7"/>
                </a:solidFill>
                <a:latin typeface="Plus Jakarta Sans"/>
              </a:rPr>
              <a:t>1 : Many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4610" y="1789658"/>
            <a:ext cx="390525" cy="57150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t>
</a:t>
            </a:r>
            <a:r>
              <a:rPr sz="1800" b="0" i="0" u="none">
                <a:solidFill>
                  <a:srgbClr val="0284C7"/>
                </a:solidFill>
                <a:latin typeface="Plus Jakarta Sans"/>
              </a:rPr>
              <a:t>1 : Many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" y="3604170"/>
            <a:ext cx="5330666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Primary Key (PK)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3937545"/>
            <a:ext cx="50768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A unique identifier for every row in a table. Guaranteed to be non-null and distinct (e.g., `profile_id = 10001`).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3604170"/>
            <a:ext cx="5330666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Foreign Key (FK)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900" y="3937545"/>
            <a:ext cx="50768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A field referencing the Primary Key of another table. Maintains relational integrity across the profile and observation levels.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7444" y="1441995"/>
            <a:ext cx="581025" cy="2190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8714" y="1737270"/>
            <a:ext cx="281863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ARGO_FLOAT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2032545"/>
            <a:ext cx="26844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monospace"/>
              </a:rPr>
              <a:t>🔑 </a:t>
            </a:r>
            <a:r>
              <a:rPr sz="900" b="1" i="0" u="none">
                <a:solidFill>
                  <a:srgbClr val="475569"/>
                </a:solidFill>
                <a:latin typeface="monospace"/>
              </a:rPr>
              <a:t>wmoid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(PK)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float_type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deploy_date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status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6716" y="1827758"/>
            <a:ext cx="228600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95813" y="1356270"/>
            <a:ext cx="600075" cy="2190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86608" y="1651545"/>
            <a:ext cx="281863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ARGO_PROFILE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3719" y="1946820"/>
            <a:ext cx="2684412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monospace"/>
              </a:rPr>
              <a:t>🔑 </a:t>
            </a:r>
            <a:r>
              <a:rPr sz="900" b="1" i="0" u="none">
                <a:solidFill>
                  <a:srgbClr val="475569"/>
                </a:solidFill>
                <a:latin typeface="monospace"/>
              </a:rPr>
              <a:t>profile_id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(PK)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🔗 </a:t>
            </a:r>
            <a:r>
              <a:rPr sz="900" b="1" i="0" u="none">
                <a:solidFill>
                  <a:srgbClr val="475569"/>
                </a:solidFill>
                <a:latin typeface="monospace"/>
              </a:rPr>
              <a:t>wmoid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(FK)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cycle_number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profile_date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latitude, longitude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4610" y="1827758"/>
            <a:ext cx="228600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63707" y="1356270"/>
            <a:ext cx="600075" cy="2190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54502" y="1651545"/>
            <a:ext cx="281863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ARGO_OBSERVATION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1613" y="1946820"/>
            <a:ext cx="2684412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475569"/>
                </a:solidFill>
                <a:latin typeface="monospace"/>
              </a:rPr>
              <a:t>🔑 </a:t>
            </a:r>
            <a:r>
              <a:rPr sz="900" b="1" i="0" u="none">
                <a:solidFill>
                  <a:srgbClr val="475569"/>
                </a:solidFill>
                <a:latin typeface="monospace"/>
              </a:rPr>
              <a:t>obs_id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(PK)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🔗 </a:t>
            </a:r>
            <a:r>
              <a:rPr sz="900" b="1" i="0" u="none">
                <a:solidFill>
                  <a:srgbClr val="475569"/>
                </a:solidFill>
                <a:latin typeface="monospace"/>
              </a:rPr>
              <a:t>profile_id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(FK)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pressure (dbar)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temperature (°C)</a:t>
            </a:r>
            <a:r>
              <a:t>
</a:t>
            </a:r>
            <a:r>
              <a:rPr sz="900" b="0" i="0" u="none">
                <a:solidFill>
                  <a:srgbClr val="475569"/>
                </a:solidFill>
                <a:latin typeface="monospace"/>
              </a:rPr>
              <a:t> • salinity (PSU)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6275" y="3632745"/>
            <a:ext cx="19050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632745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3442245"/>
            <a:ext cx="5476875" cy="7429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6787" y="381000"/>
            <a:ext cx="112252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SQL Essentials I: Table Creation &amp; Data Ingestion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11360"/>
            <a:ext cx="376237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38900" y="3642270"/>
            <a:ext cx="5076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166534"/>
                </a:solidFill>
                <a:latin typeface="Plus Jakarta Sans"/>
              </a:rPr>
              <a:t>Integrity Guarantee:</a:t>
            </a:r>
            <a:r>
              <a:rPr sz="900" b="0" i="0" u="none">
                <a:solidFill>
                  <a:srgbClr val="166534"/>
                </a:solidFill>
                <a:latin typeface="Plus Jakarta Sans"/>
              </a:rPr>
              <a:t> SQL prevents inserting observations for a `profile_id` that doesn't exist in `argo_profile`!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9F7789-DFD6-0B9C-85B2-4D6303B098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39" y="859853"/>
            <a:ext cx="5976336" cy="39414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6228C9-A5C8-72CE-36BD-C3BC11C669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946348"/>
            <a:ext cx="5474210" cy="24094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SQL Essentials II: Filtering &amp; Spatial Bounding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1B084B-C3D5-0CB6-5858-BDEF9F278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864954"/>
            <a:ext cx="12192000" cy="34273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28687" y="381000"/>
            <a:ext cx="112633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SQL Essentials III: Aggregations &amp; Relational Joins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411360"/>
            <a:ext cx="338137" cy="30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0050B9F-66A3-8C65-164F-8C122D5BD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026889"/>
            <a:ext cx="12192000" cy="32680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3289845"/>
            <a:ext cx="11239500" cy="1085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6787" y="381000"/>
            <a:ext cx="112252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Databases vs. NetCDF Files: A Hybrid Synergy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411360"/>
            <a:ext cx="376237" cy="304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6250" y="1032420"/>
          <a:ext cx="11239499" cy="2114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5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Feature / Capability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Files (NetCDF / CSV / HDF5)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Outfit SemiBold"/>
                        </a:rPr>
                        <a:t>Relational Database (PostgreSQL)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Primary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Multidimensional array storage &amp; archival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Fast indexing, querying, metadata &amp; APIs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Search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Slow (Must open and read files)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Blazing Fast (B-Tree &amp; Spatial Indexes)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Concurrent Users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Poor (Risk of file locking/corruption)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Excellent (ACID Compliant Concurrency)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Data Integrity Rules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Manual (Application level checks)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Enforced (Constraints &amp; Foreign Keys)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Web App Integration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Requires heavy preprocessing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Direct REST API / SQL connection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76250" y="1370558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00375" y="1370558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50025" y="1370558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275" y="3489870"/>
            <a:ext cx="11381422" cy="190500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66534"/>
                </a:solidFill>
                <a:latin typeface="Outfit SemiBold"/>
              </a:rPr>
              <a:t>The Modern Architecture Solution: Co-existence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3775620"/>
            <a:ext cx="108394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4532D"/>
                </a:solidFill>
                <a:latin typeface="Plus Jakarta Sans"/>
              </a:rPr>
              <a:t>Databases </a:t>
            </a:r>
            <a:r>
              <a:rPr sz="1050" b="1" i="0" u="none">
                <a:solidFill>
                  <a:srgbClr val="14532D"/>
                </a:solidFill>
                <a:latin typeface="Plus Jakarta Sans"/>
              </a:rPr>
              <a:t>do not replace</a:t>
            </a:r>
            <a:r>
              <a:rPr sz="1050" b="0" i="0" u="none">
                <a:solidFill>
                  <a:srgbClr val="14532D"/>
                </a:solidFill>
                <a:latin typeface="Plus Jakarta Sans"/>
              </a:rPr>
              <a:t> NetCDF files! Instead, databases store profile metadata, spatial points, and indices. When a user requests raw binary ocean grids, the database provides the exact file path link to the NetCDF store.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250" y="1722983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00375" y="1722983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50025" y="1722983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6250" y="2075408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00375" y="2075408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50025" y="2075408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6250" y="2427833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00375" y="2427833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50025" y="2427833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6250" y="2780258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000375" y="2780258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50025" y="2780258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6250" y="3132683"/>
            <a:ext cx="25241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000375" y="3132683"/>
            <a:ext cx="434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50025" y="3132683"/>
            <a:ext cx="43657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3508920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7170"/>
            <a:ext cx="3619500" cy="15906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937170"/>
            <a:ext cx="3619500" cy="1590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937170"/>
            <a:ext cx="3619500" cy="1590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Real-World Applications in Oceanography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1137195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1. Global Data Portals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1470570"/>
            <a:ext cx="3219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Powers web portals like NOAA ERDDAP, Copernicus Marine Service, and INCOIS where users filter ocean observations by custom polygons.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6275" y="1137195"/>
            <a:ext cx="3380422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2. Real-Time 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6275" y="1470570"/>
            <a:ext cx="3219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Incoming satellite feeds from floats, gliders, and moorings automatically trigger QC script checks and push observations into live DB 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6275" y="1137195"/>
            <a:ext cx="3380422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3. Machine Learning Pipelines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6275" y="1470570"/>
            <a:ext cx="32194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SQL pipelines extract clean, quality-controlled temperature profiles directly into PyTorch or TensorFlow ocean forecasting models.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165770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6275" y="1165770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96275" y="1165770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7170"/>
            <a:ext cx="5476875" cy="19335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865983"/>
            <a:ext cx="5476875" cy="742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The Secret Sauce: Database Indexing Mechanics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1137195"/>
            <a:ext cx="5330666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284C7"/>
                </a:solidFill>
                <a:latin typeface="Outfit SemiBold"/>
              </a:rPr>
              <a:t>The Book Index 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275" y="1470570"/>
            <a:ext cx="5076825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Plus Jakarta Sans"/>
              </a:rPr>
              <a:t>Imagine looking for the term </a:t>
            </a:r>
            <a:r>
              <a:rPr sz="1050" b="0" i="1" u="none">
                <a:solidFill>
                  <a:srgbClr val="475569"/>
                </a:solidFill>
                <a:latin typeface="Plus Jakarta Sans"/>
              </a:rPr>
              <a:t>"Salinity Anomaly"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in a 1,000-page oceanography textbook.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Sequential Scan (No Index):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Reading every single page from page 1 to 1000.</a:t>
            </a:r>
            <a:r>
              <a:t>
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B-Tree Index: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Turning straight to the index at the back, finding page 742, and jumping straight there instantly.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3066008"/>
            <a:ext cx="5076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92400E"/>
                </a:solidFill>
                <a:latin typeface="Plus Jakarta Sans"/>
              </a:rPr>
              <a:t>Performance Note:</a:t>
            </a:r>
            <a:r>
              <a:rPr sz="900" b="0" i="0" u="none">
                <a:solidFill>
                  <a:srgbClr val="92400E"/>
                </a:solidFill>
                <a:latin typeface="Plus Jakarta Sans"/>
              </a:rPr>
              <a:t> Without indexes, a query on 10 million rows scans 10M records. With B-Tree indexes, it finds the record in ~20 operations.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1165770"/>
            <a:ext cx="171450" cy="190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F4D80D-AE04-3BE7-14C8-2D17BE74D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559" y="746670"/>
            <a:ext cx="6187440" cy="21167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3021210"/>
            <a:ext cx="11239500" cy="1371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6787" y="381000"/>
            <a:ext cx="112252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Outfit"/>
              </a:rPr>
              <a:t>End-to-End Ocean Data System Architecture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1360"/>
            <a:ext cx="376237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306960"/>
            <a:ext cx="1933872" cy="800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8804" y="3287910"/>
            <a:ext cx="1933872" cy="838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3709" y="3268860"/>
            <a:ext cx="2363688" cy="876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8429" y="3287910"/>
            <a:ext cx="1933872" cy="838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33334" y="3306960"/>
            <a:ext cx="1933872" cy="800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6536" y="3421260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0663" y="3635573"/>
            <a:ext cx="952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42866" y="3421260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299966" y="3649860"/>
            <a:ext cx="971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Plus Jakarta Sans Black"/>
              </a:rPr>
              <a:t>Ingestion &amp; QC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6141" y="3859410"/>
            <a:ext cx="12192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FFFFF"/>
                </a:solidFill>
                <a:latin typeface="Plus Jakarta Sans SemiBold"/>
              </a:rPr>
              <a:t>Python / NetCDF Parsing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85568" y="3635573"/>
            <a:ext cx="952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76491" y="3402210"/>
            <a:ext cx="238125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557391" y="3668910"/>
            <a:ext cx="1076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Plus Jakarta Sans Black"/>
              </a:rPr>
              <a:t>Relational DBMS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8816" y="3878460"/>
            <a:ext cx="11334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FFFFF"/>
                </a:solidFill>
                <a:latin typeface="Plus Jakarta Sans SemiBold"/>
              </a:rPr>
              <a:t>PostgreSQL + PostGIS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10288" y="3635573"/>
            <a:ext cx="9525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2491" y="3421260"/>
            <a:ext cx="28575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24378" y="3649860"/>
            <a:ext cx="5619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FFFFF"/>
                </a:solidFill>
                <a:latin typeface="Plus Jakarta Sans Black"/>
              </a:rPr>
              <a:t>REST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0553" y="3859410"/>
            <a:ext cx="809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FFFFFF"/>
                </a:solidFill>
                <a:latin typeface="Plus Jakarta Sans SemiBold"/>
              </a:rPr>
              <a:t>FastAPI / Python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05193" y="3635573"/>
            <a:ext cx="952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85970" y="342126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937170"/>
            <a:ext cx="5476875" cy="16383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937170"/>
            <a:ext cx="5476875" cy="2447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0587" y="381000"/>
            <a:ext cx="113014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Outfit"/>
              </a:rPr>
              <a:t>Interactive Challenge &amp; Solutions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11360"/>
            <a:ext cx="300037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4850" y="1137195"/>
            <a:ext cx="5300662" cy="23812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0284C7"/>
                </a:solidFill>
                <a:latin typeface="Outfit SemiBold"/>
              </a:rPr>
              <a:t>Student </a:t>
            </a:r>
            <a:r>
              <a:rPr sz="1500" b="0" i="0" u="none">
                <a:solidFill>
                  <a:srgbClr val="0284C7"/>
                </a:solidFill>
                <a:latin typeface="Outfit SemiBold"/>
              </a:rPr>
              <a:t>Exercise </a:t>
            </a:r>
            <a:r>
              <a:rPr lang="en-US" sz="1500" b="0" i="0" u="none">
                <a:solidFill>
                  <a:srgbClr val="0284C7"/>
                </a:solidFill>
                <a:latin typeface="Outfit SemiBold"/>
              </a:rPr>
              <a:t>Queries</a:t>
            </a:r>
            <a:endParaRPr sz="1500" b="0" i="0" u="none" dirty="0">
              <a:solidFill>
                <a:srgbClr val="0284C7"/>
              </a:solidFill>
              <a:latin typeface="Outfit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850" y="1470570"/>
            <a:ext cx="50482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Plus Jakarta Sans"/>
              </a:rPr>
              <a:t>Given the `argo_profile` and `argo_observation` tables, write SQL queries for: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1137195"/>
            <a:ext cx="5330666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Outfit SemiBold"/>
              </a:rPr>
              <a:t>Answer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470570"/>
            <a:ext cx="507682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Plus Jakarta Sans"/>
              </a:rPr>
              <a:t>1. Filter by Pressure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1956345"/>
            <a:ext cx="507682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Plus Jakarta Sans"/>
              </a:rPr>
              <a:t>2. Average Temperature 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900" y="2442120"/>
            <a:ext cx="507682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94A3B8"/>
                </a:solidFill>
                <a:latin typeface="Plus Jakarta Sans"/>
              </a:rPr>
              <a:t>3. Max Pressure with JOIN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1165770"/>
            <a:ext cx="14287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1050" y="1730126"/>
            <a:ext cx="952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1732508"/>
            <a:ext cx="4876800" cy="21431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Find all observations deeper than 500.0 dbar.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1944439"/>
            <a:ext cx="1238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1946820"/>
            <a:ext cx="4876800" cy="214312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Calculate the average water temperature across all observations.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2158751"/>
            <a:ext cx="1238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2161133"/>
            <a:ext cx="4876800" cy="214312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Find the maximum pressure reached by float 2902092.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116577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937170"/>
            <a:ext cx="5476875" cy="235594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937170"/>
            <a:ext cx="5476875" cy="15865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43675"/>
            <a:ext cx="12192000" cy="3143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2487" y="381000"/>
            <a:ext cx="11339512" cy="3656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FFFFFF"/>
                </a:solidFill>
                <a:latin typeface="Outfit"/>
              </a:rPr>
              <a:t>Summary &amp; Next Steps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11360"/>
            <a:ext cx="261937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275" y="1137195"/>
            <a:ext cx="5330666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8BDF8"/>
                </a:solidFill>
                <a:latin typeface="Outfit SemiBold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1137195"/>
            <a:ext cx="5330666" cy="23812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38BDF8"/>
                </a:solidFill>
                <a:latin typeface="Outfit SemiBold"/>
              </a:rPr>
              <a:t>Recommended  Hands-On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1470570"/>
            <a:ext cx="5076825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E2E8F0"/>
                </a:solidFill>
                <a:latin typeface="Plus Jakarta Sans"/>
              </a:rPr>
              <a:t>Step 1:</a:t>
            </a:r>
            <a:r>
              <a:rPr sz="1050" b="0" i="0" u="none">
                <a:solidFill>
                  <a:srgbClr val="E2E8F0"/>
                </a:solidFill>
                <a:latin typeface="Plus Jakarta Sans"/>
              </a:rPr>
              <a:t> Install PostgreSQL with PostGIS extension.</a:t>
            </a:r>
            <a:r>
              <a:t>
</a:t>
            </a:r>
            <a:r>
              <a:rPr sz="1050" b="1" i="0" u="none">
                <a:solidFill>
                  <a:srgbClr val="E2E8F0"/>
                </a:solidFill>
                <a:latin typeface="Plus Jakarta Sans"/>
              </a:rPr>
              <a:t>Step 2:</a:t>
            </a:r>
            <a:r>
              <a:rPr sz="1050" b="0" i="0" u="none">
                <a:solidFill>
                  <a:srgbClr val="E2E8F0"/>
                </a:solidFill>
                <a:latin typeface="Plus Jakarta Sans"/>
              </a:rPr>
              <a:t> Use Python (`netCDF4` + `psycopg2`) to parse raw ARGO `.nc` files.</a:t>
            </a:r>
            <a:r>
              <a:t>
</a:t>
            </a:r>
            <a:r>
              <a:rPr sz="1050" b="1" i="0" u="none">
                <a:solidFill>
                  <a:srgbClr val="E2E8F0"/>
                </a:solidFill>
                <a:latin typeface="Plus Jakarta Sans"/>
              </a:rPr>
              <a:t>Step 3:</a:t>
            </a:r>
            <a:r>
              <a:rPr sz="1050" b="0" i="0" u="none">
                <a:solidFill>
                  <a:srgbClr val="E2E8F0"/>
                </a:solidFill>
                <a:latin typeface="Plus Jakarta Sans"/>
              </a:rPr>
              <a:t> Ingest float profiles into relational tables.</a:t>
            </a:r>
            <a:r>
              <a:t>
</a:t>
            </a:r>
            <a:r>
              <a:rPr sz="1050" b="1" i="0" u="none">
                <a:solidFill>
                  <a:srgbClr val="E2E8F0"/>
                </a:solidFill>
                <a:latin typeface="Plus Jakarta Sans"/>
              </a:rPr>
              <a:t>Step 4:</a:t>
            </a:r>
            <a:r>
              <a:rPr sz="1050" b="0" i="0" u="none">
                <a:solidFill>
                  <a:srgbClr val="E2E8F0"/>
                </a:solidFill>
                <a:latin typeface="Plus Jakarta Sans"/>
              </a:rPr>
              <a:t> Build a Streamlit web dashboard querying the database in real-time.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16577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2975" y="1470570"/>
            <a:ext cx="48101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Databases transition scientific data management from fragile file folders to robust, scalable platforms.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2011412"/>
            <a:ext cx="48101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Relational schemas eliminate redundant data via normalized tables connected by Primary and Foreign Keys.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2552253"/>
            <a:ext cx="4810125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SQL empowers researchers to execute instantaneous spatial, temporal, and conditional subsetting.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165770"/>
            <a:ext cx="2381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1489620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2030462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2571303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1776</Words>
  <Application>Microsoft Office PowerPoint</Application>
  <PresentationFormat>Widescreen</PresentationFormat>
  <Paragraphs>207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Calibri</vt:lpstr>
      <vt:lpstr>Fira Code</vt:lpstr>
      <vt:lpstr>monospace</vt:lpstr>
      <vt:lpstr>Outfit</vt:lpstr>
      <vt:lpstr>Outfit ExtraBold</vt:lpstr>
      <vt:lpstr>Outfit SemiBold</vt:lpstr>
      <vt:lpstr>Plus Jakarta Sans</vt:lpstr>
      <vt:lpstr>Plus Jakarta Sans Black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Kumar J.</cp:lastModifiedBy>
  <cp:revision>7</cp:revision>
  <dcterms:created xsi:type="dcterms:W3CDTF">2013-01-27T09:14:16Z</dcterms:created>
  <dcterms:modified xsi:type="dcterms:W3CDTF">2026-09-03T08:47:54Z</dcterms:modified>
  <cp:category/>
</cp:coreProperties>
</file>